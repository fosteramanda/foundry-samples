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CBD"/>
                </a:solidFill>
                <a:latin typeface="Segoe UI"/>
              </a:rPr>
              <a:t>WHERE WE ARE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B1B1F"/>
                </a:solidFill>
                <a:latin typeface="Segoe UI"/>
              </a:rPr>
              <a:t>How do I know which model to use?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Segoe UI"/>
              </a:rPr>
              <a:t>Foundry model router picks the right model for each request, so you stop hard-coding one model for every job.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236208"/>
            <a:ext cx="10817352" cy="12700"/>
          </a:xfrm>
          <a:prstGeom prst="rect">
            <a:avLst/>
          </a:prstGeom>
          <a:solidFill>
            <a:srgbClr val="E1D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5E5C"/>
                </a:solidFill>
                <a:latin typeface="Segoe UI"/>
              </a:rPr>
              <a:t>The Future of Human-Agent Interaction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55080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605E5C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26080"/>
            <a:ext cx="2103120" cy="868680"/>
          </a:xfrm>
          <a:prstGeom prst="roundRect">
            <a:avLst>
              <a:gd name="adj" fmla="val 10000"/>
            </a:avLst>
          </a:prstGeom>
          <a:solidFill>
            <a:srgbClr val="EBF3FC"/>
          </a:solidFill>
          <a:ln w="1270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0F6CBD"/>
                </a:solidFill>
                <a:latin typeface="Segoe UI"/>
              </a:rPr>
              <a:t>Your request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one prompt, no model choice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468880"/>
            <a:ext cx="2651760" cy="1783080"/>
          </a:xfrm>
          <a:prstGeom prst="roundRect">
            <a:avLst>
              <a:gd name="adj" fmla="val 9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Foundry
model router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9EAFA"/>
                </a:solidFill>
                <a:latin typeface="Segoe UI"/>
              </a:rPr>
              <a:t>scores cost, latency,
reasoning depth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2057400"/>
            <a:ext cx="3657600" cy="658368"/>
          </a:xfrm>
          <a:prstGeom prst="roundRect">
            <a:avLst>
              <a:gd name="adj" fmla="val 10000"/>
            </a:avLst>
          </a:prstGeom>
          <a:solidFill>
            <a:srgbClr val="FAF9F8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Frontier reasoning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hard, multi-step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2916936"/>
            <a:ext cx="3657600" cy="658368"/>
          </a:xfrm>
          <a:prstGeom prst="roundRect">
            <a:avLst>
              <a:gd name="adj" fmla="val 10000"/>
            </a:avLst>
          </a:prstGeom>
          <a:solidFill>
            <a:srgbClr val="FAF9F8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Balanced general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everyday requests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3776472"/>
            <a:ext cx="3657600" cy="658368"/>
          </a:xfrm>
          <a:prstGeom prst="roundRect">
            <a:avLst>
              <a:gd name="adj" fmla="val 10000"/>
            </a:avLst>
          </a:prstGeom>
          <a:solidFill>
            <a:srgbClr val="FAF9F8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Small + fast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high-volume, low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4636008"/>
            <a:ext cx="3657600" cy="658368"/>
          </a:xfrm>
          <a:prstGeom prst="roundRect">
            <a:avLst>
              <a:gd name="adj" fmla="val 10000"/>
            </a:avLst>
          </a:prstGeom>
          <a:solidFill>
            <a:srgbClr val="FAF9F8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Domain / fine-tuned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specialized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51760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605E5C"/>
                </a:solidFill>
                <a:latin typeface="Segoe UI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19456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F6CBD"/>
                </a:solidFill>
                <a:latin typeface="Segoe UI"/>
              </a:rPr>
              <a:t>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76479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605E5C"/>
                </a:solidFill>
                <a:latin typeface="Segoe UI"/>
              </a:rPr>
              <a:t>MODEL CATALOG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88920" y="3360420"/>
            <a:ext cx="640080" cy="0"/>
          </a:xfrm>
          <a:prstGeom prst="line">
            <a:avLst/>
          </a:prstGeom>
          <a:ln w="25400">
            <a:solidFill>
              <a:srgbClr val="0F6C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080760" y="2386584"/>
            <a:ext cx="1097280" cy="973836"/>
          </a:xfrm>
          <a:prstGeom prst="line">
            <a:avLst/>
          </a:prstGeom>
          <a:ln w="15875">
            <a:solidFill>
              <a:srgbClr val="605E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080760" y="3246120"/>
            <a:ext cx="1097280" cy="114300"/>
          </a:xfrm>
          <a:prstGeom prst="line">
            <a:avLst/>
          </a:prstGeom>
          <a:ln w="15875">
            <a:solidFill>
              <a:srgbClr val="605E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3360420"/>
            <a:ext cx="1097280" cy="745236"/>
          </a:xfrm>
          <a:prstGeom prst="line">
            <a:avLst/>
          </a:prstGeom>
          <a:ln w="15875">
            <a:solidFill>
              <a:srgbClr val="605E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80760" y="3360420"/>
            <a:ext cx="1097280" cy="1604772"/>
          </a:xfrm>
          <a:prstGeom prst="line">
            <a:avLst/>
          </a:prstGeom>
          <a:ln w="15875">
            <a:solidFill>
              <a:srgbClr val="605E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5800" y="5532120"/>
            <a:ext cx="10817352" cy="56692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/>
          <a:lstStyle/>
          <a:p>
            <a:pPr algn="l"/>
            <a:r>
              <a:rPr sz="1300" b="1">
                <a:solidFill>
                  <a:srgbClr val="0A4A82"/>
                </a:solidFill>
                <a:latin typeface="Segoe UI"/>
              </a:rPr>
              <a:t>Solved once: the platform picks the model. The developer states intent, not infrastructure.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CBD"/>
                </a:solidFill>
                <a:latin typeface="Segoe UI"/>
              </a:rPr>
              <a:t>WHERE WE ARE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B1B1F"/>
                </a:solidFill>
                <a:latin typeface="Segoe UI"/>
              </a:rPr>
              <a:t>How does my agent pick the best tool for the job?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Segoe UI"/>
              </a:rPr>
              <a:t>A Foundry agent plans over a governed toolbox and calls the right tool at each step.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236208"/>
            <a:ext cx="10817352" cy="12700"/>
          </a:xfrm>
          <a:prstGeom prst="rect">
            <a:avLst/>
          </a:prstGeom>
          <a:solidFill>
            <a:srgbClr val="E1D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5E5C"/>
                </a:solidFill>
                <a:latin typeface="Segoe UI"/>
              </a:rPr>
              <a:t>The Future of Human-Agent Interaction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55080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605E5C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2926080" cy="2148840"/>
          </a:xfrm>
          <a:prstGeom prst="roundRect">
            <a:avLst>
              <a:gd name="adj" fmla="val 8000"/>
            </a:avLst>
          </a:prstGeom>
          <a:solidFill>
            <a:srgbClr val="F3EFFB"/>
          </a:solidFill>
          <a:ln w="12700">
            <a:solidFill>
              <a:srgbClr val="8A6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B1B1F"/>
                </a:solidFill>
                <a:latin typeface="Segoe UI"/>
              </a:rPr>
              <a:t>Foundry agent</a:t>
            </a:r>
          </a:p>
          <a:p>
            <a:pPr algn="ctr">
              <a:spcAft>
                <a:spcPts val="600"/>
              </a:spcAft>
            </a:pPr>
            <a:r>
              <a:rPr sz="1150" b="0">
                <a:solidFill>
                  <a:srgbClr val="605E5C"/>
                </a:solidFill>
                <a:latin typeface="Segoe UI"/>
              </a:rPr>
              <a:t>instructions + memory + plan</a:t>
            </a:r>
          </a:p>
          <a:p>
            <a:pPr algn="ctr">
              <a:spcAft>
                <a:spcPts val="600"/>
              </a:spcAft>
            </a:pPr>
            <a:r>
              <a:rPr sz="1150" b="0">
                <a:solidFill>
                  <a:srgbClr val="1B1B1F"/>
                </a:solidFill>
                <a:latin typeface="Segoe UI"/>
              </a:rPr>
              <a:t>1  understand the goal
2  choose a tool
3  observe the result
4  repeat until 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103120"/>
            <a:ext cx="6611112" cy="2788920"/>
          </a:xfrm>
          <a:prstGeom prst="roundRect">
            <a:avLst>
              <a:gd name="adj" fmla="val 4000"/>
            </a:avLst>
          </a:prstGeom>
          <a:solidFill>
            <a:srgbClr val="FAF9F8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26771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7C66"/>
                </a:solidFill>
                <a:latin typeface="Segoe UI"/>
              </a:rPr>
              <a:t>TOOLBOX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578608"/>
            <a:ext cx="30632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MCP servers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connect any 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578608"/>
            <a:ext cx="30632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Enterprise knowledge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grounded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3474720"/>
            <a:ext cx="30632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Functions &amp; APIs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act in line-of-business apps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3474720"/>
            <a:ext cx="30632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Code interpreter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compute and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4370832"/>
            <a:ext cx="30632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Browser / computer use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the long tail of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4370832"/>
            <a:ext cx="30632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Evaluations &amp; tracing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prove it worked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11880" y="3406140"/>
            <a:ext cx="1280160" cy="0"/>
          </a:xfrm>
          <a:prstGeom prst="line">
            <a:avLst/>
          </a:prstGeom>
          <a:ln w="25400">
            <a:solidFill>
              <a:srgbClr val="8A6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11880" y="30632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05E5C"/>
                </a:solidFill>
                <a:latin typeface="Segoe UI"/>
              </a:rPr>
              <a:t>calls</a:t>
            </a:r>
          </a:p>
          <a:p>
            <a:pPr algn="ctr"/>
            <a:r>
              <a:rPr sz="1050" b="0">
                <a:solidFill>
                  <a:srgbClr val="605E5C"/>
                </a:solidFill>
                <a:latin typeface="Segoe UI"/>
              </a:rPr>
              <a:t>returns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532120"/>
            <a:ext cx="10817352" cy="56692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/>
          <a:lstStyle/>
          <a:p>
            <a:pPr algn="l"/>
            <a:r>
              <a:rPr sz="1300" b="1">
                <a:solidFill>
                  <a:srgbClr val="0A4A82"/>
                </a:solidFill>
                <a:latin typeface="Segoe UI"/>
              </a:rPr>
              <a:t>The agent already routes across tools. The next question is who routes across agents.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CBD"/>
                </a:solidFill>
                <a:latin typeface="Segoe UI"/>
              </a:rPr>
              <a:t>WHERE WE ARE GOING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B1B1F"/>
                </a:solidFill>
                <a:latin typeface="Segoe UI"/>
              </a:rPr>
              <a:t>How do I pick the best agent for a task?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Segoe UI"/>
              </a:rPr>
              <a:t>An agent router treats sub-agents like tools - and every hop still runs on-behalf-of you.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236208"/>
            <a:ext cx="10817352" cy="12700"/>
          </a:xfrm>
          <a:prstGeom prst="rect">
            <a:avLst/>
          </a:prstGeom>
          <a:solidFill>
            <a:srgbClr val="E1D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5E5C"/>
                </a:solidFill>
                <a:latin typeface="Segoe UI"/>
              </a:rPr>
              <a:t>The Future of Human-Agent Interaction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55080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605E5C"/>
                </a:solidFill>
                <a:latin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88920"/>
            <a:ext cx="1874519" cy="960120"/>
          </a:xfrm>
          <a:prstGeom prst="roundRect">
            <a:avLst>
              <a:gd name="adj" fmla="val 10000"/>
            </a:avLst>
          </a:prstGeom>
          <a:solidFill>
            <a:srgbClr val="EBF3FC"/>
          </a:solidFill>
          <a:ln w="1270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0F6CBD"/>
                </a:solidFill>
                <a:latin typeface="Segoe UI"/>
              </a:rPr>
              <a:t>You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one 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514600"/>
            <a:ext cx="2514600" cy="1508760"/>
          </a:xfrm>
          <a:prstGeom prst="roundRect">
            <a:avLst>
              <a:gd name="adj" fmla="val 9000"/>
            </a:avLst>
          </a:prstGeom>
          <a:solidFill>
            <a:srgbClr val="8A6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Agent router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EAE2FB"/>
                </a:solidFill>
                <a:latin typeface="Segoe UI"/>
              </a:rPr>
              <a:t>decomposes the goal,
picks the right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874519"/>
            <a:ext cx="3063240" cy="731520"/>
          </a:xfrm>
          <a:prstGeom prst="roundRect">
            <a:avLst>
              <a:gd name="adj" fmla="val 10000"/>
            </a:avLst>
          </a:prstGeom>
          <a:solidFill>
            <a:srgbClr val="F3EFFB"/>
          </a:solidFill>
          <a:ln w="12700">
            <a:solidFill>
              <a:srgbClr val="8A6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Research agent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reads the corpus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5577840" y="2240279"/>
            <a:ext cx="1325880" cy="1028701"/>
          </a:xfrm>
          <a:prstGeom prst="line">
            <a:avLst/>
          </a:prstGeom>
          <a:ln w="15875">
            <a:solidFill>
              <a:srgbClr val="8A6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058400" y="2020823"/>
            <a:ext cx="1298448" cy="438912"/>
          </a:xfrm>
          <a:prstGeom prst="roundRect">
            <a:avLst>
              <a:gd name="adj" fmla="val 10000"/>
            </a:avLst>
          </a:prstGeom>
          <a:solidFill>
            <a:srgbClr val="FDF4E3"/>
          </a:solidFill>
          <a:ln w="12700">
            <a:solidFill>
              <a:srgbClr val="B8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B86E00"/>
                </a:solidFill>
                <a:latin typeface="Segoe UI"/>
              </a:rPr>
              <a:t>on-behalf-of you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825495"/>
            <a:ext cx="3063240" cy="731520"/>
          </a:xfrm>
          <a:prstGeom prst="roundRect">
            <a:avLst>
              <a:gd name="adj" fmla="val 10000"/>
            </a:avLst>
          </a:prstGeom>
          <a:solidFill>
            <a:srgbClr val="F3EFFB"/>
          </a:solidFill>
          <a:ln w="12700">
            <a:solidFill>
              <a:srgbClr val="8A6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Finance agent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runs the model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5577840" y="3191255"/>
            <a:ext cx="1325880" cy="77725"/>
          </a:xfrm>
          <a:prstGeom prst="line">
            <a:avLst/>
          </a:prstGeom>
          <a:ln w="15875">
            <a:solidFill>
              <a:srgbClr val="8A6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58400" y="2971799"/>
            <a:ext cx="1298448" cy="438912"/>
          </a:xfrm>
          <a:prstGeom prst="roundRect">
            <a:avLst>
              <a:gd name="adj" fmla="val 10000"/>
            </a:avLst>
          </a:prstGeom>
          <a:solidFill>
            <a:srgbClr val="FDF4E3"/>
          </a:solidFill>
          <a:ln w="12700">
            <a:solidFill>
              <a:srgbClr val="B8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B86E00"/>
                </a:solidFill>
                <a:latin typeface="Segoe UI"/>
              </a:rPr>
              <a:t>on-behalf-of you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3776471"/>
            <a:ext cx="3063240" cy="731520"/>
          </a:xfrm>
          <a:prstGeom prst="roundRect">
            <a:avLst>
              <a:gd name="adj" fmla="val 10000"/>
            </a:avLst>
          </a:prstGeom>
          <a:solidFill>
            <a:srgbClr val="F3EFFB"/>
          </a:solidFill>
          <a:ln w="12700">
            <a:solidFill>
              <a:srgbClr val="8A6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Ticketing agent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files the work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77840" y="3268980"/>
            <a:ext cx="1325880" cy="873251"/>
          </a:xfrm>
          <a:prstGeom prst="line">
            <a:avLst/>
          </a:prstGeom>
          <a:ln w="15875">
            <a:solidFill>
              <a:srgbClr val="8A6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58400" y="3922775"/>
            <a:ext cx="1298448" cy="438912"/>
          </a:xfrm>
          <a:prstGeom prst="roundRect">
            <a:avLst>
              <a:gd name="adj" fmla="val 10000"/>
            </a:avLst>
          </a:prstGeom>
          <a:solidFill>
            <a:srgbClr val="FDF4E3"/>
          </a:solidFill>
          <a:ln w="12700">
            <a:solidFill>
              <a:srgbClr val="B8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B86E00"/>
                </a:solidFill>
                <a:latin typeface="Segoe UI"/>
              </a:rPr>
              <a:t>on-behalf-of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4727447"/>
            <a:ext cx="3063240" cy="731520"/>
          </a:xfrm>
          <a:prstGeom prst="roundRect">
            <a:avLst>
              <a:gd name="adj" fmla="val 10000"/>
            </a:avLst>
          </a:prstGeom>
          <a:solidFill>
            <a:srgbClr val="F3EFFB"/>
          </a:solidFill>
          <a:ln w="12700">
            <a:solidFill>
              <a:srgbClr val="8A6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Comms agent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drafts the update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77840" y="3268980"/>
            <a:ext cx="1325880" cy="1824227"/>
          </a:xfrm>
          <a:prstGeom prst="line">
            <a:avLst/>
          </a:prstGeom>
          <a:ln w="15875">
            <a:solidFill>
              <a:srgbClr val="8A6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058400" y="4873751"/>
            <a:ext cx="1298448" cy="438912"/>
          </a:xfrm>
          <a:prstGeom prst="roundRect">
            <a:avLst>
              <a:gd name="adj" fmla="val 10000"/>
            </a:avLst>
          </a:prstGeom>
          <a:solidFill>
            <a:srgbClr val="FDF4E3"/>
          </a:solidFill>
          <a:ln w="12700">
            <a:solidFill>
              <a:srgbClr val="B8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B86E00"/>
                </a:solidFill>
                <a:latin typeface="Segoe UI"/>
              </a:rPr>
              <a:t>on-behalf-of you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60319" y="3268980"/>
            <a:ext cx="502921" cy="0"/>
          </a:xfrm>
          <a:prstGeom prst="line">
            <a:avLst/>
          </a:prstGeom>
          <a:ln w="25400">
            <a:solidFill>
              <a:srgbClr val="0F6C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85800" y="4453128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DF4E3"/>
          </a:solidFill>
          <a:ln w="12700">
            <a:solidFill>
              <a:srgbClr val="B8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1B1F"/>
                </a:solidFill>
                <a:latin typeface="Segoe UI"/>
              </a:rPr>
              <a:t>What an agent identity actually changes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05E5C"/>
                </a:solidFill>
                <a:latin typeface="Segoe UI"/>
              </a:rPr>
              <a:t>Every sub-agent inherits your permissions - it can never reach data you cannot. One consent, one audit trail, one place to revoke.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532120"/>
            <a:ext cx="10817352" cy="56692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/>
          <a:lstStyle/>
          <a:p>
            <a:pPr algn="l"/>
            <a:r>
              <a:rPr sz="1300" b="1">
                <a:solidFill>
                  <a:srgbClr val="0A4A82"/>
                </a:solidFill>
                <a:latin typeface="Segoe UI"/>
              </a:rPr>
              <a:t>Agents become routable capabilities - without becoming a second, unmanaged set of credentials.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CBD"/>
                </a:solidFill>
                <a:latin typeface="Segoe UI"/>
              </a:rPr>
              <a:t>WHERE WE ARE GOING AFTER THAT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B1B1F"/>
                </a:solidFill>
                <a:latin typeface="Segoe UI"/>
              </a:rPr>
              <a:t>A router that is proactive across my surfaces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Segoe UI"/>
              </a:rPr>
              <a:t>The autopilot works where I already am, notices the work, and delegates when it needs help.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236208"/>
            <a:ext cx="10817352" cy="12700"/>
          </a:xfrm>
          <a:prstGeom prst="rect">
            <a:avLst/>
          </a:prstGeom>
          <a:solidFill>
            <a:srgbClr val="E1D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5E5C"/>
                </a:solidFill>
                <a:latin typeface="Segoe UI"/>
              </a:rPr>
              <a:t>The Future of Human-Agent Interaction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55080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605E5C"/>
                </a:solidFill>
                <a:latin typeface="Segoe U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605E5C"/>
                </a:solidFill>
                <a:latin typeface="Segoe UI"/>
              </a:rPr>
              <a:t>SURFACES WHERE WORK HAPPENS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11680"/>
            <a:ext cx="1947672" cy="603504"/>
          </a:xfrm>
          <a:prstGeom prst="roundRect">
            <a:avLst>
              <a:gd name="adj" fmla="val 10000"/>
            </a:avLst>
          </a:prstGeom>
          <a:solidFill>
            <a:srgbClr val="FAF9F8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2011680"/>
            <a:ext cx="1947672" cy="603504"/>
          </a:xfrm>
          <a:prstGeom prst="roundRect">
            <a:avLst>
              <a:gd name="adj" fmla="val 10000"/>
            </a:avLst>
          </a:prstGeom>
          <a:solidFill>
            <a:srgbClr val="FAF9F8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Outlook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46904" y="2011680"/>
            <a:ext cx="1947672" cy="603504"/>
          </a:xfrm>
          <a:prstGeom prst="roundRect">
            <a:avLst>
              <a:gd name="adj" fmla="val 10000"/>
            </a:avLst>
          </a:prstGeom>
          <a:solidFill>
            <a:srgbClr val="FAF9F8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Word &amp; Excel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7456" y="2011680"/>
            <a:ext cx="1947672" cy="603504"/>
          </a:xfrm>
          <a:prstGeom prst="roundRect">
            <a:avLst>
              <a:gd name="adj" fmla="val 10000"/>
            </a:avLst>
          </a:prstGeom>
          <a:solidFill>
            <a:srgbClr val="FAF9F8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IDE / repo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08008" y="2011680"/>
            <a:ext cx="1947672" cy="603504"/>
          </a:xfrm>
          <a:prstGeom prst="roundRect">
            <a:avLst>
              <a:gd name="adj" fmla="val 10000"/>
            </a:avLst>
          </a:prstGeom>
          <a:solidFill>
            <a:srgbClr val="FAF9F8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Browser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3063240"/>
            <a:ext cx="5669280" cy="1234440"/>
          </a:xfrm>
          <a:prstGeom prst="roundRect">
            <a:avLst>
              <a:gd name="adj" fmla="val 9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Autopilot router</a:t>
            </a:r>
          </a:p>
          <a:p>
            <a:pPr algn="ctr">
              <a:spcAft>
                <a:spcPts val="400"/>
              </a:spcAft>
            </a:pPr>
            <a:r>
              <a:rPr sz="1150" b="0">
                <a:solidFill>
                  <a:srgbClr val="D9EAFA"/>
                </a:solidFill>
                <a:latin typeface="Segoe UI"/>
              </a:rPr>
              <a:t>persistent context  •  proactive triggers  •  works while you are away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59636" y="2615184"/>
            <a:ext cx="2135124" cy="448056"/>
          </a:xfrm>
          <a:prstGeom prst="line">
            <a:avLst/>
          </a:prstGeom>
          <a:ln w="15875">
            <a:solidFill>
              <a:srgbClr val="605E5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790188" y="2615184"/>
            <a:ext cx="1147572" cy="448056"/>
          </a:xfrm>
          <a:prstGeom prst="line">
            <a:avLst/>
          </a:prstGeom>
          <a:ln w="15875">
            <a:solidFill>
              <a:srgbClr val="605E5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20740" y="2615184"/>
            <a:ext cx="160020" cy="448056"/>
          </a:xfrm>
          <a:prstGeom prst="line">
            <a:avLst/>
          </a:prstGeom>
          <a:ln w="15875">
            <a:solidFill>
              <a:srgbClr val="605E5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223760" y="2615184"/>
            <a:ext cx="827532" cy="448056"/>
          </a:xfrm>
          <a:prstGeom prst="line">
            <a:avLst/>
          </a:prstGeom>
          <a:ln w="15875">
            <a:solidFill>
              <a:srgbClr val="605E5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366760" y="2615184"/>
            <a:ext cx="1815084" cy="448056"/>
          </a:xfrm>
          <a:prstGeom prst="line">
            <a:avLst/>
          </a:prstGeom>
          <a:ln w="15875">
            <a:solidFill>
              <a:srgbClr val="605E5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5537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F6CBD"/>
                </a:solidFill>
                <a:latin typeface="Segoe UI"/>
              </a:rPr>
              <a:t>DELEGATES A JOB-TO-BE-DONE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73168"/>
            <a:ext cx="3291840" cy="658368"/>
          </a:xfrm>
          <a:prstGeom prst="roundRect">
            <a:avLst>
              <a:gd name="adj" fmla="val 10000"/>
            </a:avLst>
          </a:prstGeom>
          <a:solidFill>
            <a:srgbClr val="F3EFFB"/>
          </a:solidFill>
          <a:ln w="12700">
            <a:solidFill>
              <a:srgbClr val="8A6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Close the quarter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finance agent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331720" y="4297680"/>
            <a:ext cx="3749040" cy="475488"/>
          </a:xfrm>
          <a:prstGeom prst="line">
            <a:avLst/>
          </a:prstGeom>
          <a:ln w="15875">
            <a:solidFill>
              <a:srgbClr val="8A6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197096" y="4773168"/>
            <a:ext cx="3291840" cy="658368"/>
          </a:xfrm>
          <a:prstGeom prst="roundRect">
            <a:avLst>
              <a:gd name="adj" fmla="val 10000"/>
            </a:avLst>
          </a:prstGeom>
          <a:solidFill>
            <a:srgbClr val="F3EFFB"/>
          </a:solidFill>
          <a:ln w="12700">
            <a:solidFill>
              <a:srgbClr val="8A6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Ship the release notes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comms agent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843016" y="4297680"/>
            <a:ext cx="237744" cy="475488"/>
          </a:xfrm>
          <a:prstGeom prst="line">
            <a:avLst/>
          </a:prstGeom>
          <a:ln w="15875">
            <a:solidFill>
              <a:srgbClr val="8A6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08392" y="4773168"/>
            <a:ext cx="3291840" cy="658368"/>
          </a:xfrm>
          <a:prstGeom prst="roundRect">
            <a:avLst>
              <a:gd name="adj" fmla="val 10000"/>
            </a:avLst>
          </a:prstGeom>
          <a:solidFill>
            <a:srgbClr val="F3EFFB"/>
          </a:solidFill>
          <a:ln w="12700">
            <a:solidFill>
              <a:srgbClr val="8A6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>
                <a:solidFill>
                  <a:srgbClr val="1B1B1F"/>
                </a:solidFill>
                <a:latin typeface="Segoe UI"/>
              </a:rPr>
              <a:t>Clear the backlog triage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eng agent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0760" y="4297680"/>
            <a:ext cx="3273552" cy="475488"/>
          </a:xfrm>
          <a:prstGeom prst="line">
            <a:avLst/>
          </a:prstGeom>
          <a:ln w="15875">
            <a:solidFill>
              <a:srgbClr val="8A6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5800" y="5532120"/>
            <a:ext cx="10817352" cy="56692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/>
          <a:lstStyle/>
          <a:p>
            <a:pPr algn="l"/>
            <a:r>
              <a:rPr sz="1300" b="1">
                <a:solidFill>
                  <a:srgbClr val="0A4A82"/>
                </a:solidFill>
                <a:latin typeface="Segoe UI"/>
              </a:rPr>
              <a:t>You stop starting every task. The autopilot starts it, and hands off what it should not do alone.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CBD"/>
                </a:solidFill>
                <a:latin typeface="Segoe UI"/>
              </a:rPr>
              <a:t>WHAT ABOUT EVERYTHING WE ALREADY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B1B1F"/>
                </a:solidFill>
                <a:latin typeface="Segoe UI"/>
              </a:rPr>
              <a:t>We already have 1,000s of agents. Now what?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5E5C"/>
                </a:solidFill>
                <a:latin typeface="Segoe UI"/>
              </a:rPr>
              <a:t>Nothing is thrown away - the autopilot becomes the front door to agents you already published.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236208"/>
            <a:ext cx="10817352" cy="12700"/>
          </a:xfrm>
          <a:prstGeom prst="rect">
            <a:avLst/>
          </a:prstGeom>
          <a:solidFill>
            <a:srgbClr val="E1D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5E5C"/>
                </a:solidFill>
                <a:latin typeface="Segoe UI"/>
              </a:rPr>
              <a:t>The Future of Human-Agent Interaction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55080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605E5C"/>
                </a:solidFill>
                <a:latin typeface="Segoe U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2880360" cy="1371600"/>
          </a:xfrm>
          <a:prstGeom prst="roundRect">
            <a:avLst>
              <a:gd name="adj" fmla="val 9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Segoe UI"/>
              </a:rPr>
              <a:t>Autopilot router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9EAFA"/>
                </a:solidFill>
                <a:latin typeface="Segoe UI"/>
              </a:rPr>
              <a:t>one relationship
with the employee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874519"/>
            <a:ext cx="6748272" cy="2788920"/>
          </a:xfrm>
          <a:prstGeom prst="roundRect">
            <a:avLst>
              <a:gd name="adj" fmla="val 4000"/>
            </a:avLst>
          </a:prstGeom>
          <a:solidFill>
            <a:srgbClr val="FAF9F8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28616" y="202996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7C66"/>
                </a:solidFill>
                <a:latin typeface="Segoe UI"/>
              </a:rPr>
              <a:t>AGENT STORE  •  MY AGENTS  •  1,000S ALREADY DEPLOYED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28616" y="2359152"/>
            <a:ext cx="310896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1B1B1F"/>
                </a:solidFill>
                <a:latin typeface="Segoe UI"/>
              </a:rPr>
              <a:t>HR onboarding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Contoso HR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02168" y="2359152"/>
            <a:ext cx="310896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1B1B1F"/>
                </a:solidFill>
                <a:latin typeface="Segoe UI"/>
              </a:rPr>
              <a:t>Expense policy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Finance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28616" y="3072384"/>
            <a:ext cx="310896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1B1B1F"/>
                </a:solidFill>
                <a:latin typeface="Segoe UI"/>
              </a:rPr>
              <a:t>Security triage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SecOps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8" y="3072384"/>
            <a:ext cx="310896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1B1B1F"/>
                </a:solidFill>
                <a:latin typeface="Segoe UI"/>
              </a:rPr>
              <a:t>Field sales brief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Sales ops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8616" y="3785616"/>
            <a:ext cx="310896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1B1B1F"/>
                </a:solidFill>
                <a:latin typeface="Segoe UI"/>
              </a:rPr>
              <a:t>Supplier lookup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Procurement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8" y="3785616"/>
            <a:ext cx="310896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1B1B1F"/>
                </a:solidFill>
                <a:latin typeface="Segoe UI"/>
              </a:rPr>
              <a:t>Legal redline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Legal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28616" y="4498848"/>
            <a:ext cx="310896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1B1B1F"/>
                </a:solidFill>
                <a:latin typeface="Segoe UI"/>
              </a:rPr>
              <a:t>+ 1,000s more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every team, already shipped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8" y="4498848"/>
            <a:ext cx="310896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1B1B1F"/>
                </a:solidFill>
                <a:latin typeface="Segoe UI"/>
              </a:rPr>
              <a:t>Partner agents</a:t>
            </a:r>
          </a:p>
          <a:p>
            <a:pPr algn="ctr"/>
            <a:r>
              <a:rPr sz="950" b="0">
                <a:solidFill>
                  <a:srgbClr val="605E5C"/>
                </a:solidFill>
                <a:latin typeface="Segoe UI"/>
              </a:rPr>
              <a:t>ISV catalog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66160" y="2560319"/>
            <a:ext cx="1188720" cy="708660"/>
          </a:xfrm>
          <a:prstGeom prst="line">
            <a:avLst/>
          </a:prstGeom>
          <a:ln w="25400">
            <a:solidFill>
              <a:srgbClr val="0F6C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11880" y="239572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05E5C"/>
                </a:solidFill>
                <a:latin typeface="Segoe UI"/>
              </a:rPr>
              <a:t>delegates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47472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DF4E3"/>
          </a:solidFill>
          <a:ln w="12700">
            <a:solidFill>
              <a:srgbClr val="B8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B1B1F"/>
                </a:solidFill>
                <a:latin typeface="Segoe UI"/>
              </a:rPr>
              <a:t>Same identity fabric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05E5C"/>
                </a:solidFill>
                <a:latin typeface="Segoe UI"/>
              </a:rPr>
              <a:t>Each agent keeps its own identity, owner and policy. Delegation is logged, scoped and revocable.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532120"/>
            <a:ext cx="10817352" cy="56692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/>
          <a:lstStyle/>
          <a:p>
            <a:pPr algn="l"/>
            <a:r>
              <a:rPr sz="1300" b="1">
                <a:solidFill>
                  <a:srgbClr val="0A4A82"/>
                </a:solidFill>
                <a:latin typeface="Segoe UI"/>
              </a:rPr>
              <a:t>Autopilots do not replace your agents - they make the thousands you already have reachable from one conversation.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